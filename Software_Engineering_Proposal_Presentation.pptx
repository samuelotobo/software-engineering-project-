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658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69A950-536D-45FE-A219-FA6F80C75D0B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8C568C-D19E-422D-99EE-6E31AE25F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63172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8C568C-D19E-422D-99EE-6E31AE25F7A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6205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1097280"/>
            <a:ext cx="10698480" cy="4114800"/>
          </a:xfrm>
          <a:prstGeom prst="roundRect">
            <a:avLst/>
          </a:prstGeom>
          <a:solidFill>
            <a:srgbClr val="14233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88720" y="1920240"/>
            <a:ext cx="4987263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Parking Slot Reservation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926080"/>
            <a:ext cx="4987263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C8FF"/>
                </a:solidFill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CMPE314 – Software Engineering Project Proposal</a:t>
            </a:r>
            <a:b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Samuel Akpoghene Otobo (22100896)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3183" y="1731483"/>
            <a:ext cx="3795191" cy="284639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3360151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Presentation Outline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280160"/>
            <a:ext cx="9144000" cy="411480"/>
          </a:xfrm>
          <a:prstGeom prst="roundRect">
            <a:avLst/>
          </a:prstGeom>
          <a:solidFill>
            <a:srgbClr val="1E3A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64400" y="1300160"/>
            <a:ext cx="303801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&amp; Problem Statement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920239"/>
            <a:ext cx="9144000" cy="411480"/>
          </a:xfrm>
          <a:prstGeom prst="roundRect">
            <a:avLst/>
          </a:prstGeom>
          <a:solidFill>
            <a:srgbClr val="1E3A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64400" y="1940239"/>
            <a:ext cx="2452787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Project Aim and Objectives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560320"/>
            <a:ext cx="9144000" cy="411480"/>
          </a:xfrm>
          <a:prstGeom prst="roundRect">
            <a:avLst/>
          </a:prstGeom>
          <a:solidFill>
            <a:srgbClr val="1E3A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4400" y="2580320"/>
            <a:ext cx="26516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System Features &amp; Use Cases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200399"/>
            <a:ext cx="9144000" cy="411480"/>
          </a:xfrm>
          <a:prstGeom prst="roundRect">
            <a:avLst/>
          </a:prstGeom>
          <a:solidFill>
            <a:srgbClr val="1E3A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4400" y="3220399"/>
            <a:ext cx="208730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Requirements Analysis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840479"/>
            <a:ext cx="9144000" cy="411480"/>
          </a:xfrm>
          <a:prstGeom prst="roundRect">
            <a:avLst/>
          </a:prstGeom>
          <a:solidFill>
            <a:srgbClr val="1E3A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64400" y="3860479"/>
            <a:ext cx="1659557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Technology Stack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480560"/>
            <a:ext cx="9144000" cy="411480"/>
          </a:xfrm>
          <a:prstGeom prst="roundRect">
            <a:avLst/>
          </a:prstGeom>
          <a:solidFill>
            <a:srgbClr val="1E3A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64400" y="4500560"/>
            <a:ext cx="1552284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Project Timeline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5120640"/>
            <a:ext cx="9144000" cy="411480"/>
          </a:xfrm>
          <a:prstGeom prst="roundRect">
            <a:avLst/>
          </a:prstGeom>
          <a:solidFill>
            <a:srgbClr val="1E3A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64400" y="5140640"/>
            <a:ext cx="2885726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Expected Benefits &amp;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1.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3686458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B4C8FF"/>
                </a:solidFill>
              </a:defRPr>
            </a:pPr>
            <a:r>
              <a:rPr dirty="0"/>
              <a:t>Overview of the parking management challenge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5303520" cy="3200400"/>
          </a:xfrm>
          <a:prstGeom prst="roundRect">
            <a:avLst/>
          </a:prstGeom>
          <a:solidFill>
            <a:srgbClr val="1E293B"/>
          </a:solidFill>
          <a:ln>
            <a:solidFill>
              <a:srgbClr val="649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59" y="1463040"/>
            <a:ext cx="4987532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rPr sz="2000" dirty="0"/>
              <a:t>Background</a:t>
            </a:r>
          </a:p>
          <a:p>
            <a:pPr>
              <a:defRPr sz="1400">
                <a:solidFill>
                  <a:srgbClr val="E6E6E6"/>
                </a:solidFill>
              </a:defRPr>
            </a:pPr>
            <a:r>
              <a:rPr sz="2000" dirty="0"/>
              <a:t>• Rapid increase in vehicle ownership has created parking challenges.</a:t>
            </a:r>
          </a:p>
          <a:p>
            <a:pPr>
              <a:defRPr sz="1400">
                <a:solidFill>
                  <a:srgbClr val="E6E6E6"/>
                </a:solidFill>
              </a:defRPr>
            </a:pPr>
            <a:r>
              <a:rPr sz="2000" dirty="0"/>
              <a:t>• Drivers spend unnecessary time searching for parking spaces.</a:t>
            </a:r>
          </a:p>
          <a:p>
            <a:pPr>
              <a:defRPr sz="1400">
                <a:solidFill>
                  <a:srgbClr val="E6E6E6"/>
                </a:solidFill>
              </a:defRPr>
            </a:pPr>
            <a:r>
              <a:rPr sz="2000" dirty="0"/>
              <a:t>• Manual parking systems lead to delays and congestion.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3371" y="1118025"/>
            <a:ext cx="5581314" cy="418598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2. Problem Statement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371600"/>
            <a:ext cx="5303520" cy="3291840"/>
          </a:xfrm>
          <a:prstGeom prst="roundRect">
            <a:avLst/>
          </a:prstGeom>
          <a:solidFill>
            <a:srgbClr val="7F1D1D"/>
          </a:solidFill>
          <a:ln>
            <a:solidFill>
              <a:srgbClr val="649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59" y="1463039"/>
            <a:ext cx="52306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rPr sz="2000" dirty="0"/>
              <a:t>Existing Issues</a:t>
            </a:r>
          </a:p>
          <a:p>
            <a:pPr>
              <a:defRPr sz="1400">
                <a:solidFill>
                  <a:srgbClr val="E6E6E6"/>
                </a:solidFill>
              </a:defRPr>
            </a:pPr>
            <a:r>
              <a:rPr sz="2000" dirty="0"/>
              <a:t>• No centralized parking reservation platform.</a:t>
            </a:r>
          </a:p>
          <a:p>
            <a:pPr>
              <a:defRPr sz="1400">
                <a:solidFill>
                  <a:srgbClr val="E6E6E6"/>
                </a:solidFill>
              </a:defRPr>
            </a:pPr>
            <a:r>
              <a:rPr sz="2000" dirty="0"/>
              <a:t>• Drivers cannot </a:t>
            </a: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</a:t>
            </a:r>
            <a:r>
              <a:rPr sz="2000" dirty="0"/>
              <a:t> slot availability remotely.</a:t>
            </a:r>
          </a:p>
          <a:p>
            <a:pPr>
              <a:defRPr sz="1400">
                <a:solidFill>
                  <a:srgbClr val="E6E6E6"/>
                </a:solidFill>
              </a:defRPr>
            </a:pPr>
            <a:r>
              <a:rPr sz="2000" dirty="0"/>
              <a:t>• Traffic congestion increases around parking areas.</a:t>
            </a:r>
          </a:p>
          <a:p>
            <a:pPr>
              <a:defRPr sz="1400">
                <a:solidFill>
                  <a:srgbClr val="E6E6E6"/>
                </a:solidFill>
              </a:defRPr>
            </a:pPr>
            <a:r>
              <a:rPr sz="2000" dirty="0"/>
              <a:t>• Inefficient slot management and poor reporting.</a:t>
            </a:r>
          </a:p>
        </p:txBody>
      </p:sp>
      <p:pic>
        <p:nvPicPr>
          <p:cNvPr id="5" name="Picture 4" descr="occupancy_ref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114800" cy="439079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3. Project Aim &amp; Objectives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371600"/>
            <a:ext cx="5303520" cy="1828800"/>
          </a:xfrm>
          <a:prstGeom prst="roundRect">
            <a:avLst/>
          </a:prstGeom>
          <a:solidFill>
            <a:srgbClr val="2563EB"/>
          </a:solidFill>
          <a:ln>
            <a:solidFill>
              <a:srgbClr val="649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59" y="1463040"/>
            <a:ext cx="5120641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Aim</a:t>
            </a:r>
          </a:p>
          <a:p>
            <a:pPr>
              <a:defRPr sz="1400">
                <a:solidFill>
                  <a:srgbClr val="E6E6E6"/>
                </a:solidFill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Develop a web-based system for reserving parking spaces efficiently.</a:t>
            </a:r>
          </a:p>
          <a:p>
            <a:pPr>
              <a:defRPr sz="1400">
                <a:solidFill>
                  <a:srgbClr val="E6E6E6"/>
                </a:solidFill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Improve user convenience and parking organization.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474720"/>
            <a:ext cx="5303520" cy="2103120"/>
          </a:xfrm>
          <a:prstGeom prst="roundRect">
            <a:avLst/>
          </a:prstGeom>
          <a:solidFill>
            <a:srgbClr val="1E40AF"/>
          </a:solidFill>
          <a:ln>
            <a:solidFill>
              <a:srgbClr val="649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59" y="3566160"/>
            <a:ext cx="3857146" cy="169277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rPr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>
              <a:defRPr sz="1400">
                <a:solidFill>
                  <a:srgbClr val="E6E6E6"/>
                </a:solidFill>
              </a:defRPr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Provide secure user authentication.</a:t>
            </a:r>
          </a:p>
          <a:p>
            <a:pPr>
              <a:defRPr sz="1400">
                <a:solidFill>
                  <a:srgbClr val="E6E6E6"/>
                </a:solidFill>
              </a:defRPr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Enable online reservation and cancellation.</a:t>
            </a:r>
          </a:p>
          <a:p>
            <a:pPr>
              <a:defRPr sz="1400">
                <a:solidFill>
                  <a:srgbClr val="E6E6E6"/>
                </a:solidFill>
              </a:defRPr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Provide admin monitoring dashboard.</a:t>
            </a:r>
          </a:p>
          <a:p>
            <a:pPr>
              <a:defRPr sz="1400">
                <a:solidFill>
                  <a:srgbClr val="E6E6E6"/>
                </a:solidFill>
              </a:defRPr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Generate reports and notifications.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0542" y="1550411"/>
            <a:ext cx="5903983" cy="39359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4295087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rPr sz="4000">
                <a:latin typeface="Times New Roman" panose="02020603050405020304" pitchFamily="18" charset="0"/>
                <a:cs typeface="Times New Roman" panose="02020603050405020304" pitchFamily="18" charset="0"/>
              </a:rPr>
              <a:t>4. System Features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291840" cy="1371600"/>
          </a:xfrm>
          <a:prstGeom prst="roundRect">
            <a:avLst/>
          </a:prstGeom>
          <a:solidFill>
            <a:srgbClr val="1E3A8A"/>
          </a:solidFill>
          <a:ln>
            <a:solidFill>
              <a:srgbClr val="649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2523448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rPr sz="2800">
                <a:latin typeface="Times New Roman" panose="02020603050405020304" pitchFamily="18" charset="0"/>
                <a:cs typeface="Times New Roman" panose="02020603050405020304" pitchFamily="18" charset="0"/>
              </a:rPr>
              <a:t>Authentication</a:t>
            </a:r>
          </a:p>
          <a:p>
            <a:pPr>
              <a:defRPr sz="1400">
                <a:solidFill>
                  <a:srgbClr val="E6E6E6"/>
                </a:solidFill>
              </a:defRPr>
            </a:pPr>
            <a:r>
              <a:rPr sz="1200">
                <a:latin typeface="Times New Roman" panose="02020603050405020304" pitchFamily="18" charset="0"/>
                <a:cs typeface="Times New Roman" panose="02020603050405020304" pitchFamily="18" charset="0"/>
              </a:rPr>
              <a:t>• Secure registration and login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59" y="1371600"/>
            <a:ext cx="3291840" cy="1371600"/>
          </a:xfrm>
          <a:prstGeom prst="roundRect">
            <a:avLst/>
          </a:prstGeom>
          <a:solidFill>
            <a:srgbClr val="1E3A8A"/>
          </a:solidFill>
          <a:ln>
            <a:solidFill>
              <a:srgbClr val="649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36115" y="1463040"/>
            <a:ext cx="2622834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Slot Availability</a:t>
            </a:r>
          </a:p>
          <a:p>
            <a:pPr>
              <a:defRPr sz="1400">
                <a:solidFill>
                  <a:srgbClr val="E6E6E6"/>
                </a:solidFill>
              </a:defRPr>
            </a:pPr>
            <a:r>
              <a:rPr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Real-time parking slot updates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371600"/>
            <a:ext cx="3291840" cy="1371600"/>
          </a:xfrm>
          <a:prstGeom prst="roundRect">
            <a:avLst/>
          </a:prstGeom>
          <a:solidFill>
            <a:srgbClr val="1E3A8A"/>
          </a:solidFill>
          <a:ln>
            <a:solidFill>
              <a:srgbClr val="649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412480" y="1463040"/>
            <a:ext cx="2029723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rPr sz="2800">
                <a:latin typeface="Times New Roman" panose="02020603050405020304" pitchFamily="18" charset="0"/>
                <a:cs typeface="Times New Roman" panose="02020603050405020304" pitchFamily="18" charset="0"/>
              </a:rPr>
              <a:t>Reservation</a:t>
            </a:r>
          </a:p>
          <a:p>
            <a:pPr>
              <a:defRPr sz="1400">
                <a:solidFill>
                  <a:srgbClr val="E6E6E6"/>
                </a:solidFill>
              </a:defRPr>
            </a:pPr>
            <a:r>
              <a:rPr sz="1200">
                <a:latin typeface="Times New Roman" panose="02020603050405020304" pitchFamily="18" charset="0"/>
                <a:cs typeface="Times New Roman" panose="02020603050405020304" pitchFamily="18" charset="0"/>
              </a:rPr>
              <a:t>• Reserve parking slots online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40"/>
            <a:ext cx="3291840" cy="1371600"/>
          </a:xfrm>
          <a:prstGeom prst="roundRect">
            <a:avLst/>
          </a:prstGeom>
          <a:solidFill>
            <a:srgbClr val="1E3A8A"/>
          </a:solidFill>
          <a:ln>
            <a:solidFill>
              <a:srgbClr val="649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14400" y="3383280"/>
            <a:ext cx="2140330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rPr sz="2800">
                <a:latin typeface="Times New Roman" panose="02020603050405020304" pitchFamily="18" charset="0"/>
                <a:cs typeface="Times New Roman" panose="02020603050405020304" pitchFamily="18" charset="0"/>
              </a:rPr>
              <a:t>Notifications</a:t>
            </a:r>
          </a:p>
          <a:p>
            <a:pPr>
              <a:defRPr sz="1400">
                <a:solidFill>
                  <a:srgbClr val="E6E6E6"/>
                </a:solidFill>
              </a:defRPr>
            </a:pPr>
            <a:r>
              <a:rPr sz="1200">
                <a:latin typeface="Times New Roman" panose="02020603050405020304" pitchFamily="18" charset="0"/>
                <a:cs typeface="Times New Roman" panose="02020603050405020304" pitchFamily="18" charset="0"/>
              </a:rPr>
              <a:t>• Alerts and reminders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3291840"/>
            <a:ext cx="3291840" cy="1371600"/>
          </a:xfrm>
          <a:prstGeom prst="roundRect">
            <a:avLst/>
          </a:prstGeom>
          <a:solidFill>
            <a:srgbClr val="1E3A8A"/>
          </a:solidFill>
          <a:ln>
            <a:solidFill>
              <a:srgbClr val="649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663440" y="3383280"/>
            <a:ext cx="3031599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Admin Dashboard</a:t>
            </a:r>
          </a:p>
          <a:p>
            <a:pPr>
              <a:defRPr sz="1400">
                <a:solidFill>
                  <a:srgbClr val="E6E6E6"/>
                </a:solidFill>
              </a:defRPr>
            </a:pPr>
            <a:r>
              <a:rPr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Manage slots and users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3291840"/>
            <a:ext cx="3291840" cy="1371600"/>
          </a:xfrm>
          <a:prstGeom prst="roundRect">
            <a:avLst/>
          </a:prstGeom>
          <a:solidFill>
            <a:srgbClr val="1E3A8A"/>
          </a:solidFill>
          <a:ln>
            <a:solidFill>
              <a:srgbClr val="649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412480" y="3383280"/>
            <a:ext cx="2323072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rPr sz="2800">
                <a:latin typeface="Times New Roman" panose="02020603050405020304" pitchFamily="18" charset="0"/>
                <a:cs typeface="Times New Roman" panose="02020603050405020304" pitchFamily="18" charset="0"/>
              </a:rPr>
              <a:t>Reports</a:t>
            </a:r>
          </a:p>
          <a:p>
            <a:pPr>
              <a:defRPr sz="1400">
                <a:solidFill>
                  <a:srgbClr val="E6E6E6"/>
                </a:solidFill>
              </a:defRPr>
            </a:pPr>
            <a:r>
              <a:rPr sz="1200">
                <a:latin typeface="Times New Roman" panose="02020603050405020304" pitchFamily="18" charset="0"/>
                <a:cs typeface="Times New Roman" panose="02020603050405020304" pitchFamily="18" charset="0"/>
              </a:rPr>
              <a:t>• Generate parking usage analytics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5. Functional Requirements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280160"/>
            <a:ext cx="10058400" cy="384048"/>
          </a:xfrm>
          <a:prstGeom prst="roundRect">
            <a:avLst/>
          </a:prstGeom>
          <a:solidFill>
            <a:srgbClr val="33415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2960" y="1290160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FR-01: User Account Creation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058400" cy="384048"/>
          </a:xfrm>
          <a:prstGeom prst="roundRect">
            <a:avLst/>
          </a:prstGeom>
          <a:solidFill>
            <a:srgbClr val="33415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2960" y="1793080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FR-02: Secure Login 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10058400" cy="384048"/>
          </a:xfrm>
          <a:prstGeom prst="roundRect">
            <a:avLst/>
          </a:prstGeom>
          <a:solidFill>
            <a:srgbClr val="33415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52960" y="2296000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FR-03: Display Available Parking Slots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788920"/>
            <a:ext cx="10058400" cy="384048"/>
          </a:xfrm>
          <a:prstGeom prst="roundRect">
            <a:avLst/>
          </a:prstGeom>
          <a:solidFill>
            <a:srgbClr val="33415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2960" y="2798920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FR-04: Online Reservation System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291840"/>
            <a:ext cx="10058400" cy="384048"/>
          </a:xfrm>
          <a:prstGeom prst="roundRect">
            <a:avLst/>
          </a:prstGeom>
          <a:solidFill>
            <a:srgbClr val="33415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2960" y="3301840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FR-05: Modify or Cancel Bookings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794760"/>
            <a:ext cx="10058400" cy="384048"/>
          </a:xfrm>
          <a:prstGeom prst="roundRect">
            <a:avLst/>
          </a:prstGeom>
          <a:solidFill>
            <a:srgbClr val="33415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2960" y="3804760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FR-06: Notification Reminders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297680"/>
            <a:ext cx="10058400" cy="384048"/>
          </a:xfrm>
          <a:prstGeom prst="roundRect">
            <a:avLst/>
          </a:prstGeom>
          <a:solidFill>
            <a:srgbClr val="33415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2960" y="4307680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FR-07: Admin Slot Management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800600"/>
            <a:ext cx="10058400" cy="384048"/>
          </a:xfrm>
          <a:prstGeom prst="roundRect">
            <a:avLst/>
          </a:prstGeom>
          <a:solidFill>
            <a:srgbClr val="33415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2960" y="4810600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FR-08: Reports and Analytics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6. Technology Stack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9144000" cy="685800"/>
          </a:xfrm>
          <a:prstGeom prst="roundRect">
            <a:avLst/>
          </a:prstGeom>
          <a:solidFill>
            <a:srgbClr val="1E293B"/>
          </a:solidFill>
          <a:ln>
            <a:solidFill>
              <a:srgbClr val="649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8869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Frontend</a:t>
            </a:r>
          </a:p>
          <a:p>
            <a:pPr>
              <a:defRPr sz="1400">
                <a:solidFill>
                  <a:srgbClr val="E6E6E6"/>
                </a:solidFill>
              </a:defRPr>
            </a:pPr>
            <a:r>
              <a:t>• HTML, CSS, JavaScript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9144000" cy="685800"/>
          </a:xfrm>
          <a:prstGeom prst="roundRect">
            <a:avLst/>
          </a:prstGeom>
          <a:solidFill>
            <a:srgbClr val="1E293B"/>
          </a:solidFill>
          <a:ln>
            <a:solidFill>
              <a:srgbClr val="649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8869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Backend</a:t>
            </a:r>
          </a:p>
          <a:p>
            <a:pPr>
              <a:defRPr sz="1400">
                <a:solidFill>
                  <a:srgbClr val="E6E6E6"/>
                </a:solidFill>
              </a:defRPr>
            </a:pPr>
            <a:r>
              <a:t>• Django / Node.js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9144000" cy="685800"/>
          </a:xfrm>
          <a:prstGeom prst="roundRect">
            <a:avLst/>
          </a:prstGeom>
          <a:solidFill>
            <a:srgbClr val="1E293B"/>
          </a:solidFill>
          <a:ln>
            <a:solidFill>
              <a:srgbClr val="649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8869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Database</a:t>
            </a:r>
          </a:p>
          <a:p>
            <a:pPr>
              <a:defRPr sz="1400">
                <a:solidFill>
                  <a:srgbClr val="E6E6E6"/>
                </a:solidFill>
              </a:defRPr>
            </a:pPr>
            <a:r>
              <a:t>• MySQL / PostgreSQL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9144000" cy="685800"/>
          </a:xfrm>
          <a:prstGeom prst="roundRect">
            <a:avLst/>
          </a:prstGeom>
          <a:solidFill>
            <a:srgbClr val="1E293B"/>
          </a:solidFill>
          <a:ln>
            <a:solidFill>
              <a:srgbClr val="649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8869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Version Control</a:t>
            </a:r>
          </a:p>
          <a:p>
            <a:pPr>
              <a:defRPr sz="1400">
                <a:solidFill>
                  <a:srgbClr val="E6E6E6"/>
                </a:solidFill>
              </a:defRPr>
            </a:pPr>
            <a:r>
              <a:t>• Git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63440"/>
            <a:ext cx="9144000" cy="685800"/>
          </a:xfrm>
          <a:prstGeom prst="roundRect">
            <a:avLst/>
          </a:prstGeom>
          <a:solidFill>
            <a:srgbClr val="1E293B"/>
          </a:solidFill>
          <a:ln>
            <a:solidFill>
              <a:srgbClr val="649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4754879"/>
            <a:ext cx="8869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Libraries</a:t>
            </a:r>
          </a:p>
          <a:p>
            <a:pPr>
              <a:defRPr sz="1400">
                <a:solidFill>
                  <a:srgbClr val="E6E6E6"/>
                </a:solidFill>
              </a:defRPr>
            </a:pPr>
            <a:r>
              <a:t>• Bootstrap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549252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rPr dirty="0"/>
              <a:t>7. Project </a:t>
            </a:r>
            <a:r>
              <a:rPr dirty="0" smtClean="0"/>
              <a:t>Timeline</a:t>
            </a:r>
            <a:r>
              <a:rPr lang="en-US" dirty="0" smtClean="0"/>
              <a:t> and </a:t>
            </a:r>
            <a:r>
              <a:rPr lang="en-US" dirty="0" err="1" smtClean="0"/>
              <a:t>Gaant</a:t>
            </a:r>
            <a:r>
              <a:rPr lang="en-US" dirty="0" smtClean="0"/>
              <a:t> Chart</a:t>
            </a:r>
            <a:endParaRPr dirty="0"/>
          </a:p>
        </p:txBody>
      </p:sp>
      <p:pic>
        <p:nvPicPr>
          <p:cNvPr id="3" name="Picture 2" descr="timeline_ref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1" y="1371600"/>
            <a:ext cx="2917036" cy="197348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606724" y="1404741"/>
            <a:ext cx="4206240" cy="1699164"/>
          </a:xfrm>
          <a:prstGeom prst="roundRect">
            <a:avLst/>
          </a:prstGeom>
          <a:solidFill>
            <a:srgbClr val="2563EB"/>
          </a:solidFill>
          <a:ln>
            <a:solidFill>
              <a:srgbClr val="649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04651" y="1417473"/>
            <a:ext cx="3810386" cy="1491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rPr dirty="0"/>
              <a:t>Development Phases</a:t>
            </a:r>
          </a:p>
          <a:p>
            <a:pPr>
              <a:defRPr sz="1400">
                <a:solidFill>
                  <a:srgbClr val="E6E6E6"/>
                </a:solidFill>
              </a:defRPr>
            </a:pPr>
            <a:r>
              <a:rPr dirty="0"/>
              <a:t>• Weeks 1–2: Requirements Gathering</a:t>
            </a:r>
          </a:p>
          <a:p>
            <a:pPr>
              <a:defRPr sz="1400">
                <a:solidFill>
                  <a:srgbClr val="E6E6E6"/>
                </a:solidFill>
              </a:defRPr>
            </a:pPr>
            <a:r>
              <a:rPr dirty="0"/>
              <a:t>• Weeks 3–4: UML Modeling &amp; System Design</a:t>
            </a:r>
          </a:p>
          <a:p>
            <a:pPr>
              <a:defRPr sz="1400">
                <a:solidFill>
                  <a:srgbClr val="E6E6E6"/>
                </a:solidFill>
              </a:defRPr>
            </a:pPr>
            <a:r>
              <a:rPr dirty="0"/>
              <a:t>• Weeks 5–6: Core Feature Implementation</a:t>
            </a:r>
          </a:p>
          <a:p>
            <a:pPr>
              <a:defRPr sz="1400">
                <a:solidFill>
                  <a:srgbClr val="E6E6E6"/>
                </a:solidFill>
              </a:defRPr>
            </a:pPr>
            <a:r>
              <a:rPr dirty="0"/>
              <a:t>• Weeks 7–8: Testing, Documentation &amp; Deployment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640" y="3578466"/>
            <a:ext cx="10058400" cy="300977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2345322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rPr sz="2000"/>
              <a:t>8. Expected Benefits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463040"/>
            <a:ext cx="10058400" cy="3200400"/>
          </a:xfrm>
          <a:prstGeom prst="roundRect">
            <a:avLst/>
          </a:prstGeom>
          <a:solidFill>
            <a:srgbClr val="10B981"/>
          </a:solidFill>
          <a:ln>
            <a:solidFill>
              <a:srgbClr val="649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" name="TextBox 3"/>
          <p:cNvSpPr txBox="1"/>
          <p:nvPr/>
        </p:nvSpPr>
        <p:spPr>
          <a:xfrm>
            <a:off x="1097279" y="1554480"/>
            <a:ext cx="727121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Benefits</a:t>
            </a:r>
          </a:p>
          <a:p>
            <a:pPr>
              <a:defRPr sz="1400">
                <a:solidFill>
                  <a:srgbClr val="E6E6E6"/>
                </a:solidFill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Reduces congestion and waiting time.</a:t>
            </a:r>
          </a:p>
          <a:p>
            <a:pPr>
              <a:defRPr sz="1400">
                <a:solidFill>
                  <a:srgbClr val="E6E6E6"/>
                </a:solidFill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Improves parking efficiency.</a:t>
            </a:r>
          </a:p>
          <a:p>
            <a:pPr>
              <a:defRPr sz="1400">
                <a:solidFill>
                  <a:srgbClr val="E6E6E6"/>
                </a:solidFill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Enhances user experience with online access.</a:t>
            </a:r>
          </a:p>
          <a:p>
            <a:pPr>
              <a:defRPr sz="1400">
                <a:solidFill>
                  <a:srgbClr val="E6E6E6"/>
                </a:solidFill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Provides data analytics for management decisions.</a:t>
            </a:r>
          </a:p>
          <a:p>
            <a:pPr>
              <a:defRPr sz="1400">
                <a:solidFill>
                  <a:srgbClr val="E6E6E6"/>
                </a:solidFill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Supports future scalability and smart parking integration.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9. Conclusion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9120851" cy="2185300"/>
          </a:xfrm>
          <a:prstGeom prst="roundRect">
            <a:avLst/>
          </a:prstGeom>
          <a:solidFill>
            <a:srgbClr val="1E293B"/>
          </a:solidFill>
          <a:ln>
            <a:solidFill>
              <a:srgbClr val="649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737360"/>
            <a:ext cx="8562537" cy="1631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Summary</a:t>
            </a:r>
          </a:p>
          <a:p>
            <a:pPr>
              <a:defRPr sz="1400">
                <a:solidFill>
                  <a:srgbClr val="E6E6E6"/>
                </a:solidFill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The Parking Slot Reservation System offers an efficient digital parking solution.</a:t>
            </a:r>
          </a:p>
          <a:p>
            <a:pPr>
              <a:defRPr sz="1400">
                <a:solidFill>
                  <a:srgbClr val="E6E6E6"/>
                </a:solidFill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The system demonstrates practical software engineering concepts.</a:t>
            </a:r>
          </a:p>
          <a:p>
            <a:pPr>
              <a:defRPr sz="1400">
                <a:solidFill>
                  <a:srgbClr val="E6E6E6"/>
                </a:solidFill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It improves organization, automation, and user convenience.</a:t>
            </a:r>
          </a:p>
          <a:p>
            <a:pPr>
              <a:defRPr sz="1400">
                <a:solidFill>
                  <a:srgbClr val="E6E6E6"/>
                </a:solidFill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Future improvements may include AI-based smart parking integration.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411</Words>
  <Application>Microsoft Office PowerPoint</Application>
  <PresentationFormat>Custom</PresentationFormat>
  <Paragraphs>84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User</dc:creator>
  <cp:keywords/>
  <dc:description>generated using python-pptx</dc:description>
  <cp:lastModifiedBy>Microsoft account</cp:lastModifiedBy>
  <cp:revision>4</cp:revision>
  <dcterms:created xsi:type="dcterms:W3CDTF">2013-01-27T09:14:16Z</dcterms:created>
  <dcterms:modified xsi:type="dcterms:W3CDTF">2026-06-01T06:13:34Z</dcterms:modified>
  <cp:category/>
</cp:coreProperties>
</file>